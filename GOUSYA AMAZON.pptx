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0" r:id="rId1"/>
  </p:sldMasterIdLst>
  <p:sldIdLst>
    <p:sldId id="264" r:id="rId2"/>
    <p:sldId id="256" r:id="rId3"/>
    <p:sldId id="260" r:id="rId4"/>
    <p:sldId id="258" r:id="rId5"/>
    <p:sldId id="257" r:id="rId6"/>
    <p:sldId id="259" r:id="rId7"/>
    <p:sldId id="261" r:id="rId8"/>
    <p:sldId id="262"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38" d="100"/>
          <a:sy n="38" d="100"/>
        </p:scale>
        <p:origin x="60" y="67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3279248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1440931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3016930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1511668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3087229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2897540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1703886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2028461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3136949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1936107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43820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2314767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32916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375156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2166559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807903-30F8-441D-8C92-ADC6C19044DB}" type="datetimeFigureOut">
              <a:rPr lang="en-IN" smtClean="0"/>
              <a:t>05-01-2026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B1BC3B1-A56C-40BD-A4FD-5E41702EE3C7}" type="slidenum">
              <a:rPr lang="en-IN" smtClean="0"/>
              <a:t>‹#›</a:t>
            </a:fld>
            <a:endParaRPr lang="en-IN" dirty="0"/>
          </a:p>
        </p:txBody>
      </p:sp>
    </p:spTree>
    <p:extLst>
      <p:ext uri="{BB962C8B-B14F-4D97-AF65-F5344CB8AC3E}">
        <p14:creationId xmlns:p14="http://schemas.microsoft.com/office/powerpoint/2010/main" val="2798770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7807903-30F8-441D-8C92-ADC6C19044DB}" type="datetimeFigureOut">
              <a:rPr lang="en-IN" smtClean="0"/>
              <a:t>05-01-2026</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B1BC3B1-A56C-40BD-A4FD-5E41702EE3C7}" type="slidenum">
              <a:rPr lang="en-IN" smtClean="0"/>
              <a:t>‹#›</a:t>
            </a:fld>
            <a:endParaRPr lang="en-IN" dirty="0"/>
          </a:p>
        </p:txBody>
      </p:sp>
    </p:spTree>
    <p:extLst>
      <p:ext uri="{BB962C8B-B14F-4D97-AF65-F5344CB8AC3E}">
        <p14:creationId xmlns:p14="http://schemas.microsoft.com/office/powerpoint/2010/main" val="1415024405"/>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amazon.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ws.amazon.com/" TargetMode="External"/><Relationship Id="rId1" Type="http://schemas.openxmlformats.org/officeDocument/2006/relationships/slideLayout" Target="../slideLayouts/slideLayout4.xml"/><Relationship Id="rId4" Type="http://schemas.openxmlformats.org/officeDocument/2006/relationships/image" Target="../media/image4.gif"/></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search?rlz=1C1RXQR_enIN1114IN1118&amp;sca_esv=fd4dce22bec5fa29&amp;sxsrf=AE3TifNkrTHLPVqf11nHE7xnsa_Z-a80hg%3A1766473314376&amp;q=Smart+Stores&amp;source=lnms&amp;fbs=AIIjpHytKOyJMAcrEbF2s-ujVwSKfpr6Xih0R-DSKT_g88WdIlpjUO137jPDh6jhP5eNGBa8dCA26TRRELJmV_w6SWe57cpXGhcWEStXb4vmaHYzM1pkd9syAtk0eLkNDpfEF7MUkY6rXNA2G7mxJ6kJTRXctlELlGmDsDZHDWXu4ggNYJ7ZM7Gtitx-8clK6iAVsgdc9jNAby-UNTuYNmmPy0f1AaDTAl_7BZ7jyTRkaEol7X2qEXV480xLlJCtIwr9nbVraDIhlcmWWkEd1RTFrFHgcZLfs5sy9rb7-Z8iD0AvYL-C29tlzuDHVomasWHMC9q-rR_M8xuBUgNaeBQCJuMxZH5nZA&amp;sa=X&amp;ved=2ahUKEwiNncvAktORAxUlV2wGHZ35PMYQgK4QegQIARAF&amp;biw=681&amp;bih=632&amp;dpr=1&amp;mstk=AUtExfBF6RgLoHHa3wkgQBKeh9yQLJ1k5FfBCJ8TpuUkcAcjaNyxlPcPg6VyCm8_RwYV8M_uWEJ3rfsfAnOESxoTveKpBUEdyMhQWk8AlvoNVPcu3juMxv-HYGnJVNXxbdE6XzVX1df_7TuQDUJtRYsUvQvfsLtVVwF20fbHAsYtSllcwHJ2az17HdePBVrZoxj7FjswBX-lzc-8lc5HsDa7_a2v_5JqhnwA9yXmAeOL30w70KXR3GGvKveBdRuNuEhXOOIC40S44UIncZKm3oiOQHnpiuOm2PTlXXfYRzEZcumZgA&amp;csui=3" TargetMode="External"/><Relationship Id="rId2" Type="http://schemas.openxmlformats.org/officeDocument/2006/relationships/hyperlink" Target="https://www.google.com/search?rlz=1C1RXQR_enIN1114IN1118&amp;sca_esv=fd4dce22bec5fa29&amp;sxsrf=AE3TifNkrTHLPVqf11nHE7xnsa_Z-a80hg%3A1766473314376&amp;q=Local+Shops+on+Amazon&amp;source=lnms&amp;fbs=AIIjpHytKOyJMAcrEbF2s-ujVwSKfpr6Xih0R-DSKT_g88WdIlpjUO137jPDh6jhP5eNGBa8dCA26TRRELJmV_w6SWe57cpXGhcWEStXb4vmaHYzM1pkd9syAtk0eLkNDpfEF7MUkY6rXNA2G7mxJ6kJTRXctlELlGmDsDZHDWXu4ggNYJ7ZM7Gtitx-8clK6iAVsgdc9jNAby-UNTuYNmmPy0f1AaDTAl_7BZ7jyTRkaEol7X2qEXV480xLlJCtIwr9nbVraDIhlcmWWkEd1RTFrFHgcZLfs5sy9rb7-Z8iD0AvYL-C29tlzuDHVomasWHMC9q-rR_M8xuBUgNaeBQCJuMxZH5nZA&amp;sa=X&amp;ved=2ahUKEwiNncvAktORAxUlV2wGHZ35PMYQgK4QegQIARAE&amp;biw=681&amp;bih=632&amp;dpr=1&amp;mstk=AUtExfBF6RgLoHHa3wkgQBKeh9yQLJ1k5FfBCJ8TpuUkcAcjaNyxlPcPg6VyCm8_RwYV8M_uWEJ3rfsfAnOESxoTveKpBUEdyMhQWk8AlvoNVPcu3juMxv-HYGnJVNXxbdE6XzVX1df_7TuQDUJtRYsUvQvfsLtVVwF20fbHAsYtSllcwHJ2az17HdePBVrZoxj7FjswBX-lzc-8lc5HsDa7_a2v_5JqhnwA9yXmAeOL30w70KXR3GGvKveBdRuNuEhXOOIC40S44UIncZKm3oiOQHnpiuOm2PTlXXfYRzEZcumZgA&amp;csui=3" TargetMode="Externa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amazon.in/gp/bestsellers/beauty" TargetMode="External"/><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hyperlink" Target="https://www.amazon.in/Makeup-Nails/b?ie=UTF8&amp;node=1374357031"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amazon.in/gp/bestsellers/hpc/4264050031" TargetMode="External"/><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hyperlink" Target="https://www.amazon.in/gp/bestsellers/books" TargetMode="Externa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hyperlink" Target="https://pixabay.com/en/thank-you-polaroid-letters-2490552/" TargetMode="External"/><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Top Tips for Success as an Amazon Seller in Singapore | 2025 Guide">
            <a:extLst>
              <a:ext uri="{FF2B5EF4-FFF2-40B4-BE49-F238E27FC236}">
                <a16:creationId xmlns:a16="http://schemas.microsoft.com/office/drawing/2014/main" id="{DAEBA158-40C1-FF35-29E9-C94BA0648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8B7CB1D-A0C2-AED2-6DAC-31B75BA2860B}"/>
              </a:ext>
            </a:extLst>
          </p:cNvPr>
          <p:cNvSpPr txBox="1"/>
          <p:nvPr/>
        </p:nvSpPr>
        <p:spPr>
          <a:xfrm>
            <a:off x="2695075" y="3429000"/>
            <a:ext cx="9234236" cy="2246769"/>
          </a:xfrm>
          <a:prstGeom prst="rect">
            <a:avLst/>
          </a:prstGeom>
          <a:noFill/>
        </p:spPr>
        <p:txBody>
          <a:bodyPr wrap="square">
            <a:spAutoFit/>
          </a:bodyPr>
          <a:lstStyle/>
          <a:p>
            <a:r>
              <a:rPr lang="en-US" sz="2800" b="1" dirty="0">
                <a:solidFill>
                  <a:srgbClr val="FFFF66"/>
                </a:solidFill>
              </a:rPr>
              <a:t>Welcome to Amazon sales! Amazon offers numerous sales events throughout the year, featuring significant discounts through daily deals, limited-time offers like </a:t>
            </a:r>
            <a:r>
              <a:rPr lang="en-US" sz="2800" b="1" dirty="0">
                <a:solidFill>
                  <a:srgbClr val="FFFF66"/>
                </a:solidFill>
                <a:effectLst/>
              </a:rPr>
              <a:t>Lightning Deals</a:t>
            </a:r>
            <a:r>
              <a:rPr lang="en-US" sz="2800" b="1" dirty="0">
                <a:solidFill>
                  <a:srgbClr val="FFFF66"/>
                </a:solidFill>
              </a:rPr>
              <a:t>, and major annual shopping festivals like </a:t>
            </a:r>
            <a:r>
              <a:rPr lang="en-US" sz="2800" b="1" dirty="0">
                <a:solidFill>
                  <a:srgbClr val="FFFF66"/>
                </a:solidFill>
                <a:effectLst/>
              </a:rPr>
              <a:t>Prime Day</a:t>
            </a:r>
            <a:r>
              <a:rPr lang="en-US" sz="2800" b="1" dirty="0">
                <a:solidFill>
                  <a:srgbClr val="FFFF66"/>
                </a:solidFill>
              </a:rPr>
              <a:t> and the </a:t>
            </a:r>
            <a:r>
              <a:rPr lang="en-US" sz="2800" b="1" dirty="0">
                <a:solidFill>
                  <a:srgbClr val="FFFF66"/>
                </a:solidFill>
                <a:effectLst/>
              </a:rPr>
              <a:t>Great Indian Festival</a:t>
            </a:r>
            <a:r>
              <a:rPr lang="en-US" sz="2800" b="1" i="0" dirty="0">
                <a:solidFill>
                  <a:srgbClr val="FFFF66"/>
                </a:solidFill>
                <a:effectLst/>
                <a:latin typeface="Arial" panose="020B0604020202020204" pitchFamily="34" charset="0"/>
              </a:rPr>
              <a:t>.</a:t>
            </a:r>
            <a:endParaRPr lang="en-IN" sz="2800" b="1" dirty="0">
              <a:solidFill>
                <a:srgbClr val="FFFF66"/>
              </a:solidFill>
            </a:endParaRPr>
          </a:p>
        </p:txBody>
      </p:sp>
    </p:spTree>
    <p:extLst>
      <p:ext uri="{BB962C8B-B14F-4D97-AF65-F5344CB8AC3E}">
        <p14:creationId xmlns:p14="http://schemas.microsoft.com/office/powerpoint/2010/main" val="1921216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9BF3D-24B1-641D-64D1-1D4445438B18}"/>
              </a:ext>
            </a:extLst>
          </p:cNvPr>
          <p:cNvSpPr>
            <a:spLocks noGrp="1"/>
          </p:cNvSpPr>
          <p:nvPr>
            <p:ph type="ctrTitle"/>
          </p:nvPr>
        </p:nvSpPr>
        <p:spPr>
          <a:xfrm>
            <a:off x="3425952" y="-901887"/>
            <a:ext cx="6667017" cy="2743201"/>
          </a:xfrm>
        </p:spPr>
        <p:txBody>
          <a:bodyPr>
            <a:normAutofit/>
          </a:bodyPr>
          <a:lstStyle/>
          <a:p>
            <a:r>
              <a:rPr lang="en-US" sz="4800" b="1" dirty="0">
                <a:latin typeface="Algerian" panose="04020705040A02060702" pitchFamily="82" charset="0"/>
              </a:rPr>
              <a:t>AMAZON SALES DATA</a:t>
            </a:r>
            <a:endParaRPr lang="en-IN" sz="4800" b="1" dirty="0">
              <a:latin typeface="Algerian" panose="04020705040A02060702" pitchFamily="82" charset="0"/>
            </a:endParaRPr>
          </a:p>
        </p:txBody>
      </p:sp>
      <p:sp>
        <p:nvSpPr>
          <p:cNvPr id="3" name="Subtitle 2">
            <a:extLst>
              <a:ext uri="{FF2B5EF4-FFF2-40B4-BE49-F238E27FC236}">
                <a16:creationId xmlns:a16="http://schemas.microsoft.com/office/drawing/2014/main" id="{7091F13C-4FAE-BA36-DC09-F0C6714919AD}"/>
              </a:ext>
            </a:extLst>
          </p:cNvPr>
          <p:cNvSpPr>
            <a:spLocks noGrp="1"/>
          </p:cNvSpPr>
          <p:nvPr>
            <p:ph type="subTitle" idx="1"/>
          </p:nvPr>
        </p:nvSpPr>
        <p:spPr>
          <a:xfrm>
            <a:off x="2047375" y="3416970"/>
            <a:ext cx="9844254" cy="3248526"/>
          </a:xfrm>
        </p:spPr>
        <p:txBody>
          <a:bodyPr>
            <a:normAutofit/>
          </a:bodyPr>
          <a:lstStyle/>
          <a:p>
            <a:pPr algn="ctr"/>
            <a:r>
              <a:rPr lang="en-US" sz="2800" dirty="0">
                <a:solidFill>
                  <a:srgbClr val="002060"/>
                </a:solidFill>
                <a:latin typeface="Arial Black" panose="020B0A04020102020204" pitchFamily="34" charset="0"/>
              </a:rPr>
              <a:t>In 2025, </a:t>
            </a:r>
            <a:r>
              <a:rPr lang="en-US" sz="2800" dirty="0">
                <a:solidFill>
                  <a:srgbClr val="002060"/>
                </a:solidFill>
                <a:latin typeface="Arial Black" panose="020B0A04020102020204" pitchFamily="34" charset="0"/>
                <a:hlinkClick r:id="rId2">
                  <a:extLst>
                    <a:ext uri="{A12FA001-AC4F-418D-AE19-62706E023703}">
                      <ahyp:hlinkClr xmlns:ahyp="http://schemas.microsoft.com/office/drawing/2018/hyperlinkcolor" val="tx"/>
                    </a:ext>
                  </a:extLst>
                </a:hlinkClick>
              </a:rPr>
              <a:t>Amazon</a:t>
            </a:r>
            <a:r>
              <a:rPr lang="en-US" sz="2800" dirty="0">
                <a:solidFill>
                  <a:srgbClr val="002060"/>
                </a:solidFill>
                <a:latin typeface="Arial Black" panose="020B0A04020102020204" pitchFamily="34" charset="0"/>
              </a:rPr>
              <a:t> remains the world's largest online marketplace, with independent third-party sellers now accounting for over 60% of all sales in the store. Global net sales revenue reached approximately $638 billion in 2024, with continued growth reported in the first ten months of 2025.</a:t>
            </a:r>
            <a:endParaRPr lang="en-IN" sz="2800" dirty="0">
              <a:solidFill>
                <a:srgbClr val="002060"/>
              </a:solidFill>
              <a:latin typeface="Arial Black" panose="020B0A04020102020204" pitchFamily="34" charset="0"/>
            </a:endParaRPr>
          </a:p>
        </p:txBody>
      </p:sp>
      <p:pic>
        <p:nvPicPr>
          <p:cNvPr id="3084" name="Picture 12" descr="2024 Amazon Upcoming Sales: Dates, Names, Offers, &amp; More –Your Ultimate  Amazon Shopping Guide - Smartprix">
            <a:extLst>
              <a:ext uri="{FF2B5EF4-FFF2-40B4-BE49-F238E27FC236}">
                <a16:creationId xmlns:a16="http://schemas.microsoft.com/office/drawing/2014/main" id="{60347F43-A10B-51E9-88D1-D8912171A8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553" y="265657"/>
            <a:ext cx="2609088" cy="2743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354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FE3E2-EC95-45B1-834F-C4333216C3AF}"/>
              </a:ext>
            </a:extLst>
          </p:cNvPr>
          <p:cNvSpPr>
            <a:spLocks noGrp="1"/>
          </p:cNvSpPr>
          <p:nvPr>
            <p:ph type="title"/>
          </p:nvPr>
        </p:nvSpPr>
        <p:spPr>
          <a:xfrm>
            <a:off x="2734419" y="212620"/>
            <a:ext cx="9280894" cy="2217759"/>
          </a:xfrm>
        </p:spPr>
        <p:txBody>
          <a:bodyPr>
            <a:noAutofit/>
          </a:bodyPr>
          <a:lstStyle/>
          <a:p>
            <a:r>
              <a:rPr lang="en-US" sz="2800" b="1" dirty="0"/>
              <a:t>As of 2025, </a:t>
            </a:r>
            <a:r>
              <a:rPr lang="en-US" sz="2800" b="1" dirty="0">
                <a:hlinkClick r:id="rId2"/>
              </a:rPr>
              <a:t>Amazon Web Services (AWS)</a:t>
            </a:r>
            <a:r>
              <a:rPr lang="en-US" sz="2800" b="1" dirty="0"/>
              <a:t> operates in numerous geographic regions worldwide. Each region is a physical location containing multiple, isolated Availability Zones (AZs)</a:t>
            </a:r>
            <a:endParaRPr lang="en-IN" sz="2800" b="1" dirty="0"/>
          </a:p>
        </p:txBody>
      </p:sp>
      <p:pic>
        <p:nvPicPr>
          <p:cNvPr id="5124" name="Picture 4" descr="India Map : November (III) 2018 : Learning Through Maps">
            <a:extLst>
              <a:ext uri="{FF2B5EF4-FFF2-40B4-BE49-F238E27FC236}">
                <a16:creationId xmlns:a16="http://schemas.microsoft.com/office/drawing/2014/main" id="{463455FF-B16B-D28F-E7B2-15D621F4815B}"/>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677863" y="2517183"/>
            <a:ext cx="4183062" cy="3168247"/>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World Map">
            <a:extLst>
              <a:ext uri="{FF2B5EF4-FFF2-40B4-BE49-F238E27FC236}">
                <a16:creationId xmlns:a16="http://schemas.microsoft.com/office/drawing/2014/main" id="{63DFF342-1983-456A-78BB-861F3C02FD1B}"/>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tretch>
            <a:fillRect/>
          </a:stretch>
        </p:blipFill>
        <p:spPr bwMode="auto">
          <a:xfrm>
            <a:off x="5089525" y="3050959"/>
            <a:ext cx="4184650" cy="2100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408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45D427-564F-2D34-D4D7-F6BD7C2E896B}"/>
              </a:ext>
            </a:extLst>
          </p:cNvPr>
          <p:cNvSpPr txBox="1"/>
          <p:nvPr/>
        </p:nvSpPr>
        <p:spPr>
          <a:xfrm>
            <a:off x="1155032" y="4822173"/>
            <a:ext cx="10627895" cy="1867385"/>
          </a:xfrm>
          <a:prstGeom prst="rect">
            <a:avLst/>
          </a:prstGeom>
          <a:noFill/>
        </p:spPr>
        <p:txBody>
          <a:bodyPr wrap="square">
            <a:spAutoFit/>
          </a:bodyPr>
          <a:lstStyle/>
          <a:p>
            <a:r>
              <a:rPr lang="en-US" sz="2800" b="1" dirty="0"/>
              <a:t>Amazon's offline/online strategy, particularly in India, focuses on bridging the gap with programs like </a:t>
            </a:r>
            <a:r>
              <a:rPr lang="en-US" sz="2800" b="1" dirty="0">
                <a:hlinkClick r:id="rId2"/>
              </a:rPr>
              <a:t>Local Shops on Amazon</a:t>
            </a:r>
            <a:r>
              <a:rPr lang="en-US" sz="2800" b="1" dirty="0"/>
              <a:t> (digitizing neighborhood stores for faster local delivery and digital reach) and </a:t>
            </a:r>
            <a:r>
              <a:rPr lang="en-US" sz="2800" b="1" dirty="0">
                <a:hlinkClick r:id="rId3"/>
              </a:rPr>
              <a:t>Smart Stores</a:t>
            </a:r>
            <a:endParaRPr lang="en-IN" sz="2800" b="1" dirty="0">
              <a:solidFill>
                <a:srgbClr val="FF0000"/>
              </a:solidFill>
              <a:latin typeface="Algerian" panose="04020705040A02060702" pitchFamily="82" charset="0"/>
            </a:endParaRPr>
          </a:p>
        </p:txBody>
      </p:sp>
      <p:pic>
        <p:nvPicPr>
          <p:cNvPr id="2052" name="Picture 4" descr="Amazon Now Brings Online Experience Offline ! Signifies New Trend Of Using  Data To Build Physical Places ! - TechStory">
            <a:extLst>
              <a:ext uri="{FF2B5EF4-FFF2-40B4-BE49-F238E27FC236}">
                <a16:creationId xmlns:a16="http://schemas.microsoft.com/office/drawing/2014/main" id="{A47A53A5-4E0B-E979-E06D-519186A6A8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1937" y="168442"/>
            <a:ext cx="9520990" cy="4437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0014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Self Publishing On Amazon | Amazon Book Publishing Services">
            <a:extLst>
              <a:ext uri="{FF2B5EF4-FFF2-40B4-BE49-F238E27FC236}">
                <a16:creationId xmlns:a16="http://schemas.microsoft.com/office/drawing/2014/main" id="{D37FF6AC-FF99-EAA4-B7C5-6338CBDF3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596" y="3683712"/>
            <a:ext cx="5358063" cy="265383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Your Morrisons shop, delivered by Amazon.">
            <a:extLst>
              <a:ext uri="{FF2B5EF4-FFF2-40B4-BE49-F238E27FC236}">
                <a16:creationId xmlns:a16="http://schemas.microsoft.com/office/drawing/2014/main" id="{1383C0AF-D886-1DD6-74F5-44312C349D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2127" y="745582"/>
            <a:ext cx="4251158" cy="242870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9">
            <a:extLst>
              <a:ext uri="{FF2B5EF4-FFF2-40B4-BE49-F238E27FC236}">
                <a16:creationId xmlns:a16="http://schemas.microsoft.com/office/drawing/2014/main" id="{D4FFCB13-AC73-6015-4476-B369EFDD6FC9}"/>
              </a:ext>
            </a:extLst>
          </p:cNvPr>
          <p:cNvSpPr>
            <a:spLocks noChangeArrowheads="1"/>
          </p:cNvSpPr>
          <p:nvPr/>
        </p:nvSpPr>
        <p:spPr bwMode="auto">
          <a:xfrm>
            <a:off x="6096000" y="745583"/>
            <a:ext cx="5967659" cy="27814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bg2">
                    <a:lumMod val="50000"/>
                  </a:schemeClr>
                </a:solidFill>
                <a:effectLst/>
                <a:cs typeface="Arial" panose="020B0604020202020204" pitchFamily="34" charset="0"/>
              </a:rPr>
              <a:t>The Amazon rainforest is home to hundreds of edible fruit species, known for their unique flavors and high nutritional value, including powerful antioxidants, vitamins, and healthy oils. Popular examples include açaí, cupcake, and Camu Camu.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CC78864B-41DC-93FE-BD25-555D9E39917B}"/>
              </a:ext>
            </a:extLst>
          </p:cNvPr>
          <p:cNvSpPr txBox="1"/>
          <p:nvPr/>
        </p:nvSpPr>
        <p:spPr>
          <a:xfrm>
            <a:off x="1885901" y="3683712"/>
            <a:ext cx="4819695" cy="3046988"/>
          </a:xfrm>
          <a:prstGeom prst="rect">
            <a:avLst/>
          </a:prstGeom>
          <a:noFill/>
        </p:spPr>
        <p:txBody>
          <a:bodyPr wrap="square">
            <a:spAutoFit/>
          </a:bodyPr>
          <a:lstStyle/>
          <a:p>
            <a:r>
              <a:rPr lang="en-US" sz="2400" dirty="0">
                <a:solidFill>
                  <a:srgbClr val="00B050"/>
                </a:solidFill>
                <a:latin typeface="Arial" panose="020B0604020202020204" pitchFamily="34" charset="0"/>
                <a:cs typeface="Arial" panose="020B0604020202020204" pitchFamily="34" charset="0"/>
              </a:rPr>
              <a:t>Today, Amazon's book presence is dominated by its massive online store (Amazon.in, Amazon.com), diverse categories like fiction, non-fiction, and Kindle, plus services like Prime Reading, making books a top e-commerce category. </a:t>
            </a:r>
            <a:endParaRPr lang="en-IN" sz="2400"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1408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6" name="Picture 12" descr="The Best Beauty Deals To Shop On Amazon Right Now">
            <a:extLst>
              <a:ext uri="{FF2B5EF4-FFF2-40B4-BE49-F238E27FC236}">
                <a16:creationId xmlns:a16="http://schemas.microsoft.com/office/drawing/2014/main" id="{EE3C18E7-42E8-5E46-72F1-F891C19F0C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0" y="2628900"/>
            <a:ext cx="7551964" cy="42291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96AFAA7-09A6-3ECF-3BE3-5ED5C1B256B5}"/>
              </a:ext>
            </a:extLst>
          </p:cNvPr>
          <p:cNvSpPr txBox="1"/>
          <p:nvPr/>
        </p:nvSpPr>
        <p:spPr>
          <a:xfrm>
            <a:off x="1900989" y="590962"/>
            <a:ext cx="10082464" cy="2246769"/>
          </a:xfrm>
          <a:prstGeom prst="rect">
            <a:avLst/>
          </a:prstGeom>
          <a:noFill/>
        </p:spPr>
        <p:txBody>
          <a:bodyPr wrap="square">
            <a:spAutoFit/>
          </a:bodyPr>
          <a:lstStyle/>
          <a:p>
            <a:r>
              <a:rPr lang="en-US" sz="2800" b="1" i="0" dirty="0">
                <a:solidFill>
                  <a:srgbClr val="1A0DAB"/>
                </a:solidFill>
                <a:effectLst/>
                <a:latin typeface="Arial" panose="020B0604020202020204" pitchFamily="34" charset="0"/>
                <a:cs typeface="Arial" panose="020B0604020202020204" pitchFamily="34" charset="0"/>
                <a:hlinkClick r:id="rId3"/>
              </a:rPr>
              <a:t>Amazon</a:t>
            </a:r>
            <a:r>
              <a:rPr lang="en-US" sz="2800" b="1" i="0" dirty="0">
                <a:solidFill>
                  <a:srgbClr val="0A0A0A"/>
                </a:solidFill>
                <a:effectLst/>
                <a:latin typeface="Arial" panose="020B0604020202020204" pitchFamily="34" charset="0"/>
                <a:cs typeface="Arial" panose="020B0604020202020204" pitchFamily="34" charset="0"/>
              </a:rPr>
              <a:t> features daily deals and ongoing discounts on a wide range of skincare and makeup products from popular brands like Cetaphil, Maybelline, and NIVEA. You can find current sales directly on the </a:t>
            </a:r>
            <a:r>
              <a:rPr lang="en-US" sz="2800" b="1" i="0" dirty="0">
                <a:solidFill>
                  <a:srgbClr val="1A0DAB"/>
                </a:solidFill>
                <a:effectLst/>
                <a:latin typeface="Arial" panose="020B0604020202020204" pitchFamily="34" charset="0"/>
                <a:cs typeface="Arial" panose="020B0604020202020204" pitchFamily="34" charset="0"/>
                <a:hlinkClick r:id="rId4"/>
              </a:rPr>
              <a:t>Amazon Beauty Offers page</a:t>
            </a:r>
            <a:r>
              <a:rPr lang="en-US" sz="2800" b="1" i="0" dirty="0">
                <a:solidFill>
                  <a:srgbClr val="0A0A0A"/>
                </a:solidFill>
                <a:effectLst/>
                <a:latin typeface="Arial" panose="020B0604020202020204" pitchFamily="34" charset="0"/>
                <a:cs typeface="Arial" panose="020B0604020202020204" pitchFamily="34" charset="0"/>
              </a:rPr>
              <a:t>. </a:t>
            </a:r>
            <a:endParaRPr lang="en-IN"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1078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CEREGROW Multigrain Milk &amp; Fruits Cereal | With Iron, Protein, Calcium | 19  Nutrients | 300g, Bag-in-box Pack : Amazon.in: Grocery &amp; Gourmet Foods">
            <a:extLst>
              <a:ext uri="{FF2B5EF4-FFF2-40B4-BE49-F238E27FC236}">
                <a16:creationId xmlns:a16="http://schemas.microsoft.com/office/drawing/2014/main" id="{5CFE2A5E-A83D-5EFB-7778-0BBE885A4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1772" y="2430379"/>
            <a:ext cx="3230228" cy="413886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04105A9-9A37-AED0-7ACE-4B2CBDBCA752}"/>
              </a:ext>
            </a:extLst>
          </p:cNvPr>
          <p:cNvSpPr txBox="1"/>
          <p:nvPr/>
        </p:nvSpPr>
        <p:spPr>
          <a:xfrm>
            <a:off x="1852864" y="288759"/>
            <a:ext cx="10058400" cy="1815882"/>
          </a:xfrm>
          <a:prstGeom prst="rect">
            <a:avLst/>
          </a:prstGeom>
          <a:noFill/>
        </p:spPr>
        <p:txBody>
          <a:bodyPr wrap="square">
            <a:spAutoFit/>
          </a:bodyPr>
          <a:lstStyle/>
          <a:p>
            <a:r>
              <a:rPr lang="en-US" sz="2800" b="0" i="0" dirty="0">
                <a:solidFill>
                  <a:srgbClr val="00B050"/>
                </a:solidFill>
                <a:effectLst/>
                <a:latin typeface="Arial" panose="020B0604020202020204" pitchFamily="34" charset="0"/>
                <a:hlinkClick r:id="rId3">
                  <a:extLst>
                    <a:ext uri="{A12FA001-AC4F-418D-AE19-62706E023703}">
                      <ahyp:hlinkClr xmlns:ahyp="http://schemas.microsoft.com/office/drawing/2018/hyperlinkcolor" val="tx"/>
                    </a:ext>
                  </a:extLst>
                </a:hlinkClick>
              </a:rPr>
              <a:t>Amazon</a:t>
            </a:r>
            <a:r>
              <a:rPr lang="en-US" sz="2800" b="0" i="0" dirty="0">
                <a:solidFill>
                  <a:srgbClr val="00B050"/>
                </a:solidFill>
                <a:effectLst/>
                <a:latin typeface="Arial" panose="020B0604020202020204" pitchFamily="34" charset="0"/>
              </a:rPr>
              <a:t> offers a wide range of baby food products, including </a:t>
            </a:r>
            <a:r>
              <a:rPr lang="en-US" sz="2800" b="0" dirty="0">
                <a:solidFill>
                  <a:srgbClr val="00B050"/>
                </a:solidFill>
                <a:effectLst/>
              </a:rPr>
              <a:t>infant formula</a:t>
            </a:r>
            <a:r>
              <a:rPr lang="en-US" sz="2800" dirty="0">
                <a:solidFill>
                  <a:srgbClr val="00B050"/>
                </a:solidFill>
              </a:rPr>
              <a:t>, </a:t>
            </a:r>
            <a:r>
              <a:rPr lang="en-US" sz="2800" b="0" dirty="0">
                <a:solidFill>
                  <a:srgbClr val="00B050"/>
                </a:solidFill>
                <a:effectLst/>
              </a:rPr>
              <a:t>cereals</a:t>
            </a:r>
            <a:r>
              <a:rPr lang="en-US" sz="2800" dirty="0">
                <a:solidFill>
                  <a:srgbClr val="00B050"/>
                </a:solidFill>
              </a:rPr>
              <a:t>, </a:t>
            </a:r>
            <a:r>
              <a:rPr lang="en-US" sz="2800" b="0" dirty="0">
                <a:solidFill>
                  <a:srgbClr val="00B050"/>
                </a:solidFill>
                <a:effectLst/>
              </a:rPr>
              <a:t>puree pouches</a:t>
            </a:r>
            <a:r>
              <a:rPr lang="en-US" sz="2800" dirty="0">
                <a:solidFill>
                  <a:srgbClr val="00B050"/>
                </a:solidFill>
              </a:rPr>
              <a:t>, and </a:t>
            </a:r>
            <a:r>
              <a:rPr lang="en-US" sz="2800" b="0" dirty="0">
                <a:solidFill>
                  <a:srgbClr val="00B050"/>
                </a:solidFill>
                <a:effectLst/>
              </a:rPr>
              <a:t>toddler snacks</a:t>
            </a:r>
            <a:r>
              <a:rPr lang="en-US" sz="2800" b="0" i="0" dirty="0">
                <a:solidFill>
                  <a:srgbClr val="00B050"/>
                </a:solidFill>
                <a:effectLst/>
                <a:latin typeface="Arial" panose="020B0604020202020204" pitchFamily="34" charset="0"/>
              </a:rPr>
              <a:t>, from popular brands like Nestlé, Slurp Farm, and Apt amil.</a:t>
            </a:r>
            <a:endParaRPr lang="en-IN" sz="2800" dirty="0">
              <a:solidFill>
                <a:srgbClr val="00B050"/>
              </a:solidFill>
            </a:endParaRPr>
          </a:p>
        </p:txBody>
      </p:sp>
      <p:sp>
        <p:nvSpPr>
          <p:cNvPr id="4" name="Rectangle 9">
            <a:extLst>
              <a:ext uri="{FF2B5EF4-FFF2-40B4-BE49-F238E27FC236}">
                <a16:creationId xmlns:a16="http://schemas.microsoft.com/office/drawing/2014/main" id="{B454D1D6-5111-A14E-8FFD-56514413C0D8}"/>
              </a:ext>
            </a:extLst>
          </p:cNvPr>
          <p:cNvSpPr>
            <a:spLocks noChangeArrowheads="1"/>
          </p:cNvSpPr>
          <p:nvPr/>
        </p:nvSpPr>
        <p:spPr bwMode="auto">
          <a:xfrm rot="10800000" flipV="1">
            <a:off x="1670636" y="2430379"/>
            <a:ext cx="7291136" cy="3673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70C0"/>
                </a:solidFill>
                <a:effectLst/>
                <a:latin typeface="Arial" panose="020B0604020202020204" pitchFamily="34" charset="0"/>
                <a:cs typeface="Arial" panose="020B0604020202020204" pitchFamily="34" charset="0"/>
              </a:rPr>
              <a:t>Formula is available for various stages of an infant's development, typically categorized by age ranges such as 0-6 months, 6-12 months, and 12-24 months. </a:t>
            </a:r>
            <a:endParaRPr kumimoji="0" lang="en-US" altLang="en-US" sz="2000" b="1" i="0" u="none" strike="noStrike" cap="none" normalizeH="0" baseline="0" dirty="0">
              <a:ln>
                <a:noFill/>
              </a:ln>
              <a:solidFill>
                <a:srgbClr val="0070C0"/>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70C0"/>
                </a:solidFill>
                <a:effectLst/>
                <a:latin typeface="Arial" panose="020B0604020202020204" pitchFamily="34" charset="0"/>
                <a:cs typeface="Arial" panose="020B0604020202020204" pitchFamily="34" charset="0"/>
              </a:rPr>
              <a:t>Lactogen Pro 1 Powder, Infant Formula Up To 6 Months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70C0"/>
                </a:solidFill>
                <a:effectLst/>
                <a:latin typeface="Arial" panose="020B0604020202020204" pitchFamily="34" charset="0"/>
                <a:cs typeface="Arial" panose="020B0604020202020204" pitchFamily="34" charset="0"/>
              </a:rPr>
              <a:t>This formula includes probiotics and prebiotics.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70C0"/>
                </a:solidFill>
                <a:effectLst/>
                <a:latin typeface="Arial" panose="020B0604020202020204" pitchFamily="34" charset="0"/>
                <a:cs typeface="Arial" panose="020B0604020202020204" pitchFamily="34" charset="0"/>
              </a:rPr>
              <a:t>Nestlé NAN PRO Stage 1</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70C0"/>
                </a:solidFill>
                <a:effectLst/>
                <a:latin typeface="Arial" panose="020B0604020202020204" pitchFamily="34" charset="0"/>
                <a:cs typeface="Arial" panose="020B0604020202020204" pitchFamily="34" charset="0"/>
              </a:rPr>
              <a:t>This product is an infant formula milk powder designed for babies up to 6 months old, also containing probiotics.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70C0"/>
                </a:solidFill>
                <a:effectLst/>
                <a:latin typeface="Arial" panose="020B0604020202020204" pitchFamily="34" charset="0"/>
                <a:cs typeface="Arial" panose="020B0604020202020204" pitchFamily="34" charset="0"/>
              </a:rPr>
              <a:t>Apt amil Gold Infant Formula Milk Powder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70C0"/>
              </a:solidFill>
              <a:effectLst/>
              <a:latin typeface="Arial" panose="020B0604020202020204" pitchFamily="34" charset="0"/>
            </a:endParaRPr>
          </a:p>
        </p:txBody>
      </p:sp>
    </p:spTree>
    <p:extLst>
      <p:ext uri="{BB962C8B-B14F-4D97-AF65-F5344CB8AC3E}">
        <p14:creationId xmlns:p14="http://schemas.microsoft.com/office/powerpoint/2010/main" val="222653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Amazon Sales Growth (2020–2025)">
            <a:extLst>
              <a:ext uri="{FF2B5EF4-FFF2-40B4-BE49-F238E27FC236}">
                <a16:creationId xmlns:a16="http://schemas.microsoft.com/office/drawing/2014/main" id="{E4838228-A2F7-8912-176E-8F0C3C060D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6999" y="3801978"/>
            <a:ext cx="5525201" cy="2815389"/>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U.S. Fruit Puree Market Size, Share &amp; Trends Report, 2030">
            <a:extLst>
              <a:ext uri="{FF2B5EF4-FFF2-40B4-BE49-F238E27FC236}">
                <a16:creationId xmlns:a16="http://schemas.microsoft.com/office/drawing/2014/main" id="{04755725-B598-FF46-596B-33E7EC762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7136" y="625642"/>
            <a:ext cx="4025064" cy="2803358"/>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Baby Food Market Size, Trends &amp; Forecast 2025-2035">
            <a:extLst>
              <a:ext uri="{FF2B5EF4-FFF2-40B4-BE49-F238E27FC236}">
                <a16:creationId xmlns:a16="http://schemas.microsoft.com/office/drawing/2014/main" id="{59C2EC44-0B13-1EFE-9403-D7D854333D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2797" y="3801978"/>
            <a:ext cx="3972172" cy="281538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71A4D4E-C584-E29F-79C4-D80FE19F5955}"/>
              </a:ext>
            </a:extLst>
          </p:cNvPr>
          <p:cNvSpPr txBox="1"/>
          <p:nvPr/>
        </p:nvSpPr>
        <p:spPr>
          <a:xfrm>
            <a:off x="2052797" y="320457"/>
            <a:ext cx="5714339" cy="3108543"/>
          </a:xfrm>
          <a:prstGeom prst="rect">
            <a:avLst/>
          </a:prstGeom>
          <a:noFill/>
        </p:spPr>
        <p:txBody>
          <a:bodyPr wrap="square">
            <a:spAutoFit/>
          </a:bodyPr>
          <a:lstStyle/>
          <a:p>
            <a:r>
              <a:rPr lang="en-US" sz="2800" b="1" dirty="0"/>
              <a:t>Here is information on popular sales books available on </a:t>
            </a:r>
            <a:r>
              <a:rPr lang="en-US" sz="2800" b="1" i="0" dirty="0">
                <a:solidFill>
                  <a:srgbClr val="1A0DAB"/>
                </a:solidFill>
                <a:effectLst/>
                <a:latin typeface="Arial" panose="020B0604020202020204" pitchFamily="34" charset="0"/>
                <a:hlinkClick r:id="rId5"/>
              </a:rPr>
              <a:t>Amazon</a:t>
            </a:r>
            <a:r>
              <a:rPr lang="en-US" sz="2800" b="1" i="0" dirty="0">
                <a:solidFill>
                  <a:srgbClr val="0A0A0A"/>
                </a:solidFill>
                <a:effectLst/>
                <a:latin typeface="Arial" panose="020B0604020202020204" pitchFamily="34" charset="0"/>
              </a:rPr>
              <a:t>, details regarding baby food ingredients in makeup products, and an overview of the fruit market for 2025.</a:t>
            </a:r>
            <a:endParaRPr lang="en-IN" sz="2800" b="1" dirty="0"/>
          </a:p>
        </p:txBody>
      </p:sp>
    </p:spTree>
    <p:extLst>
      <p:ext uri="{BB962C8B-B14F-4D97-AF65-F5344CB8AC3E}">
        <p14:creationId xmlns:p14="http://schemas.microsoft.com/office/powerpoint/2010/main" val="2708225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94C4AD-084F-48E4-CF19-BCAFD7B3B94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25464" y="1905000"/>
            <a:ext cx="8718536" cy="3532632"/>
          </a:xfrm>
          <a:prstGeom prst="rect">
            <a:avLst/>
          </a:prstGeom>
        </p:spPr>
      </p:pic>
    </p:spTree>
    <p:extLst>
      <p:ext uri="{BB962C8B-B14F-4D97-AF65-F5344CB8AC3E}">
        <p14:creationId xmlns:p14="http://schemas.microsoft.com/office/powerpoint/2010/main" val="1311503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65201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227</TotalTime>
  <Words>437</Words>
  <Application>Microsoft Office PowerPoint</Application>
  <PresentationFormat>Widescreen</PresentationFormat>
  <Paragraphs>16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Algerian</vt:lpstr>
      <vt:lpstr>Arial</vt:lpstr>
      <vt:lpstr>Arial Black</vt:lpstr>
      <vt:lpstr>Trebuchet MS</vt:lpstr>
      <vt:lpstr>Wingdings 3</vt:lpstr>
      <vt:lpstr>Facet</vt:lpstr>
      <vt:lpstr>PowerPoint Presentation</vt:lpstr>
      <vt:lpstr>AMAZON SALES DATA</vt:lpstr>
      <vt:lpstr>As of 2025, Amazon Web Services (AWS) operates in numerous geographic regions worldwide. Each region is a physical location containing multiple, isolated Availability Zones (AZs)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kummethachandramohan@gmail.com</dc:creator>
  <cp:lastModifiedBy>kummethachandramohan@gmail.com</cp:lastModifiedBy>
  <cp:revision>4</cp:revision>
  <dcterms:created xsi:type="dcterms:W3CDTF">2025-12-23T06:23:42Z</dcterms:created>
  <dcterms:modified xsi:type="dcterms:W3CDTF">2026-01-05T07:05:51Z</dcterms:modified>
</cp:coreProperties>
</file>